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6858000" cx="12192000"/>
  <p:notesSz cx="6858000" cy="9144000"/>
  <p:embeddedFontLst>
    <p:embeddedFont>
      <p:font typeface="Inter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DA94A59-B086-4479-90ED-08AC3CC7EC14}">
  <a:tblStyle styleId="{7DA94A59-B086-4479-90ED-08AC3CC7EC1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Inter-regular.fntdata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Inter-italic.fntdata"/><Relationship Id="rId14" Type="http://schemas.openxmlformats.org/officeDocument/2006/relationships/font" Target="fonts/Inter-bold.fntdata"/><Relationship Id="rId16" Type="http://schemas.openxmlformats.org/officeDocument/2006/relationships/font" Target="fonts/Inter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6.png"/><Relationship Id="rId8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09600" y="5600700"/>
            <a:ext cx="109728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609600" y="609600"/>
            <a:ext cx="2657475" cy="295275"/>
          </a:xfrm>
          <a:prstGeom prst="roundRect">
            <a:avLst>
              <a:gd fmla="val 50000" name="adj"/>
            </a:avLst>
          </a:prstGeom>
          <a:solidFill>
            <a:srgbClr val="132651"/>
          </a:solidFill>
          <a:ln cap="flat" cmpd="sng" w="9525">
            <a:solidFill>
              <a:srgbClr val="2142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609600" y="5600700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475" y="690562"/>
            <a:ext cx="1333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609600" y="1133475"/>
            <a:ext cx="9101137" cy="1139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Modernizing Software Delivery at ChadaTech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09600" y="2463105"/>
            <a:ext cx="8929687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Piloting Scrum-Agile for the SNHU Travel Development Project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962025" y="676275"/>
            <a:ext cx="2702718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Engineering Leadership Initiative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10315575" y="5876925"/>
            <a:ext cx="1583531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DATE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0315575" y="6057900"/>
            <a:ext cx="158353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October 18, 2026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09600" y="5876925"/>
            <a:ext cx="3655218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PRESENTER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609600" y="6057900"/>
            <a:ext cx="365521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Lead Software Engineer &amp; Scrum Master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3838575" y="5876925"/>
            <a:ext cx="32385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ORGANIZATION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3838575" y="6057900"/>
            <a:ext cx="3238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ChadaTech Engineering Leadership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/>
          <p:nvPr/>
        </p:nvSpPr>
        <p:spPr>
          <a:xfrm>
            <a:off x="609600" y="2471737"/>
            <a:ext cx="3505200" cy="2819400"/>
          </a:xfrm>
          <a:prstGeom prst="roundRect">
            <a:avLst>
              <a:gd fmla="val 405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4343400" y="2471737"/>
            <a:ext cx="3505200" cy="2819400"/>
          </a:xfrm>
          <a:prstGeom prst="roundRect">
            <a:avLst>
              <a:gd fmla="val 405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8077200" y="2471737"/>
            <a:ext cx="3505200" cy="2819400"/>
          </a:xfrm>
          <a:prstGeom prst="roundRect">
            <a:avLst>
              <a:gd fmla="val 405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4" name="Google Shape;10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825" y="27479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9625" y="27479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53425" y="27479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19175" y="2881312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29162" y="2881312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62962" y="2881312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609600" y="457200"/>
            <a:ext cx="110680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Agile Team Governance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609600" y="685800"/>
            <a:ext cx="11582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Core Responsibilities in a Self-Organizing Team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885825" y="3395662"/>
            <a:ext cx="38754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Product Owner (PO)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4619625" y="3395662"/>
            <a:ext cx="38754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Scrum Master (SM)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8353425" y="3395662"/>
            <a:ext cx="3838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Development Team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885825" y="3738562"/>
            <a:ext cx="3048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Backlog Ownership: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Owns vision and prioritizes user stories.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885825" y="4195762"/>
            <a:ext cx="3048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Requirements Alignment: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Translates business needs into Acceptance Criteria.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885825" y="4652962"/>
            <a:ext cx="3048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Value Optimization: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Maximizes ROI and feature impact </a:t>
            </a: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(Schwaber &amp; Sutherland, 2020)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4619625" y="3738562"/>
            <a:ext cx="3048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Servant Leadership: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Coaches team on Scrum rules and Agile principles.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4619625" y="4195762"/>
            <a:ext cx="3048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Event Facilitation: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Directs Planning, Standups, Reviews, and Retros.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4619625" y="4652962"/>
            <a:ext cx="3048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Impediment Removal: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Eliminates technical blockers </a:t>
            </a: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(Rigby et al., 2018)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8353425" y="3738562"/>
            <a:ext cx="3048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Cross-Functional: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Engineers, testers, and UX designers.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8353425" y="4195762"/>
            <a:ext cx="3048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Collective Ownership: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Holds full accountability for code quality.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8353425" y="4652962"/>
            <a:ext cx="3048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Increment Delivery: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Produces a "Done" product increment every sprint.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/>
          <p:nvPr/>
        </p:nvSpPr>
        <p:spPr>
          <a:xfrm>
            <a:off x="609600" y="4507110"/>
            <a:ext cx="10972800" cy="685800"/>
          </a:xfrm>
          <a:prstGeom prst="roundRect">
            <a:avLst>
              <a:gd fmla="val 11111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609600" y="2569964"/>
            <a:ext cx="2072580" cy="1632346"/>
          </a:xfrm>
          <a:prstGeom prst="roundRect">
            <a:avLst>
              <a:gd fmla="val 4668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2834580" y="2569964"/>
            <a:ext cx="2072580" cy="1632346"/>
          </a:xfrm>
          <a:prstGeom prst="roundRect">
            <a:avLst>
              <a:gd fmla="val 4668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5059560" y="2569964"/>
            <a:ext cx="2072580" cy="1632346"/>
          </a:xfrm>
          <a:prstGeom prst="roundRect">
            <a:avLst>
              <a:gd fmla="val 4668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7284541" y="2569964"/>
            <a:ext cx="2072580" cy="1632346"/>
          </a:xfrm>
          <a:prstGeom prst="roundRect">
            <a:avLst>
              <a:gd fmla="val 4668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9509521" y="2569964"/>
            <a:ext cx="2072580" cy="1632346"/>
          </a:xfrm>
          <a:prstGeom prst="roundRect">
            <a:avLst>
              <a:gd fmla="val 4668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609600" y="2569964"/>
            <a:ext cx="207258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2834580" y="2569964"/>
            <a:ext cx="207258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5059560" y="2569964"/>
            <a:ext cx="2072580" cy="381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7284541" y="2569964"/>
            <a:ext cx="2072580" cy="381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9509521" y="2569964"/>
            <a:ext cx="2072580" cy="3810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9" name="Google Shape;13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473571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5"/>
          <p:cNvSpPr txBox="1"/>
          <p:nvPr/>
        </p:nvSpPr>
        <p:spPr>
          <a:xfrm>
            <a:off x="609600" y="457200"/>
            <a:ext cx="110680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Execution Framework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609600" y="685800"/>
            <a:ext cx="11582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SDLC Phases in an Iterative Agile Environment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1228725" y="4669035"/>
            <a:ext cx="102108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Continuous Parallel Execution:</a:t>
            </a:r>
            <a:r>
              <a:rPr b="0" i="0" lang="en-US" sz="1125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Unlike linear Waterfall gates, Agile phases execute concurrently in every sprint loop to maintain maximum velocity and adaptability.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800100" y="2798564"/>
            <a:ext cx="21144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PHASE 01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800100" y="2998589"/>
            <a:ext cx="2220199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Requirements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800100" y="3265289"/>
            <a:ext cx="1786830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Continuous backlog refinement via user stories over static specs.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3025080" y="2798564"/>
            <a:ext cx="21144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PHASE 02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3025080" y="2998589"/>
            <a:ext cx="2220199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Design &amp; Architecture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3025080" y="3265289"/>
            <a:ext cx="1786830" cy="5618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Evolutionary, modular design per feature sprint </a:t>
            </a: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(Highsmith, 2002)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5250060" y="2798564"/>
            <a:ext cx="21144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6A34A"/>
                </a:solidFill>
                <a:latin typeface="Inter"/>
                <a:ea typeface="Inter"/>
                <a:cs typeface="Inter"/>
                <a:sym typeface="Inter"/>
              </a:rPr>
              <a:t>PHASE 03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5250060" y="2998589"/>
            <a:ext cx="2220199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Implementation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5250060" y="3265289"/>
            <a:ext cx="1786830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Time-boxed 1–2 week sprints delivering functional increments.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7475041" y="2798564"/>
            <a:ext cx="21144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PHASE 04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7475041" y="2998589"/>
            <a:ext cx="2220199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Testing &amp; QA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7475041" y="3265289"/>
            <a:ext cx="1786830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Continuous automated unit tests &amp; peer code reviews in daily loops.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9700021" y="2798564"/>
            <a:ext cx="21144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333EA"/>
                </a:solidFill>
                <a:latin typeface="Inter"/>
                <a:ea typeface="Inter"/>
                <a:cs typeface="Inter"/>
                <a:sym typeface="Inter"/>
              </a:rPr>
              <a:t>PHASE 05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9700021" y="2998589"/>
            <a:ext cx="2220199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Deployment</a:t>
            </a:r>
            <a:endParaRPr/>
          </a:p>
        </p:txBody>
      </p:sp>
      <p:sp>
        <p:nvSpPr>
          <p:cNvPr id="157" name="Google Shape;157;p15"/>
          <p:cNvSpPr txBox="1"/>
          <p:nvPr/>
        </p:nvSpPr>
        <p:spPr>
          <a:xfrm>
            <a:off x="9700021" y="3265289"/>
            <a:ext cx="1786830" cy="746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Frequent incremental releases providing constant stakeholder value.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/>
          <p:nvPr/>
        </p:nvSpPr>
        <p:spPr>
          <a:xfrm>
            <a:off x="609600" y="5787628"/>
            <a:ext cx="10972800" cy="61317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609600" y="5787628"/>
            <a:ext cx="38100" cy="613171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/>
          <p:nvPr/>
        </p:nvSpPr>
        <p:spPr>
          <a:xfrm>
            <a:off x="609600" y="1285875"/>
            <a:ext cx="10972800" cy="241935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5" name="Google Shape;165;p16"/>
          <p:cNvGraphicFramePr/>
          <p:nvPr/>
        </p:nvGraphicFramePr>
        <p:xfrm>
          <a:off x="609600" y="1285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{7DA94A59-B086-4479-90ED-08AC3CC7EC14}</a:tableStyleId>
              </a:tblPr>
              <a:tblGrid>
                <a:gridCol w="2414000"/>
                <a:gridCol w="4279250"/>
                <a:gridCol w="4279550"/>
              </a:tblGrid>
              <a:tr h="40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Factor / Phase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Traditional Waterfall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Modern Scrum-Agile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40AF"/>
                    </a:solidFill>
                  </a:tcPr>
                </a:tc>
              </a:tr>
              <a:tr h="40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Requirements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Fixed, extensive upfront specification docs.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1E40A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Dynamic, continuously evolving Product Backlog.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40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Process Flow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Linear, sequential phase gates.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1E40A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Iterative, parallel 2-week sprint cycles.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40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Change Control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 resistance; strict Change Control Board.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1E40A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Welcomes requirements changes mid-project.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40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Risk Profile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 late-stage integration risk.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1E40A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Low risk via continuous integration &amp; testing.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40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Client Feedback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Delayed until final product delivery.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1E40A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Continuous at end of every 2-week sprint.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166" name="Google Shape;166;p16"/>
          <p:cNvSpPr txBox="1"/>
          <p:nvPr/>
        </p:nvSpPr>
        <p:spPr>
          <a:xfrm>
            <a:off x="609600" y="457200"/>
            <a:ext cx="110680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Comparative Analysis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609600" y="685800"/>
            <a:ext cx="11582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Waterfall vs. Scrum-Agile Execution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838200" y="5920978"/>
            <a:ext cx="10648950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SNHU Travel Real-World Impact:</a:t>
            </a: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Mid-cycle UI adjustments were added directly to the next sprint backlog in Agile. In Waterfall, this change would have stalled active development for weeks during CCB review.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7"/>
          <p:cNvSpPr/>
          <p:nvPr/>
        </p:nvSpPr>
        <p:spPr>
          <a:xfrm>
            <a:off x="609600" y="1323975"/>
            <a:ext cx="6290369" cy="5076825"/>
          </a:xfrm>
          <a:prstGeom prst="roundRect">
            <a:avLst>
              <a:gd fmla="val 2251" name="adj"/>
            </a:avLst>
          </a:prstGeom>
          <a:solidFill>
            <a:srgbClr val="F0FDF4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7204769" y="1323975"/>
            <a:ext cx="4377630" cy="5076825"/>
          </a:xfrm>
          <a:prstGeom prst="roundRect">
            <a:avLst>
              <a:gd fmla="val 261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885825" y="1604962"/>
            <a:ext cx="1104900" cy="219075"/>
          </a:xfrm>
          <a:prstGeom prst="roundRect">
            <a:avLst>
              <a:gd fmla="val 17391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6" name="Google Shape;17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825" y="2357437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825" y="2652712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825" y="2947987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825" y="3243262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80994" y="2357437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80994" y="2814637"/>
            <a:ext cx="11430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7"/>
          <p:cNvSpPr txBox="1"/>
          <p:nvPr/>
        </p:nvSpPr>
        <p:spPr>
          <a:xfrm>
            <a:off x="609600" y="457200"/>
            <a:ext cx="110680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Strategic Evaluation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609600" y="685800"/>
            <a:ext cx="11582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Decision Framework for Project Methodology Selection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885825" y="1981200"/>
            <a:ext cx="7172399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Optimal for most ChadaTech modern software client engagements: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7480994" y="1981200"/>
            <a:ext cx="471100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Reserved for specialized project constraints: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981075" y="1643062"/>
            <a:ext cx="10096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RECOMMENDED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2105025" y="1600200"/>
            <a:ext cx="370046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532D"/>
                </a:solidFill>
                <a:latin typeface="Inter"/>
                <a:ea typeface="Inter"/>
                <a:cs typeface="Inter"/>
                <a:sym typeface="Inter"/>
              </a:rPr>
              <a:t>When to Choose Agile / Scrum</a:t>
            </a:r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1114425" y="2333625"/>
            <a:ext cx="6943799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4532D"/>
                </a:solidFill>
                <a:latin typeface="Inter"/>
                <a:ea typeface="Inter"/>
                <a:cs typeface="Inter"/>
                <a:sym typeface="Inter"/>
              </a:rPr>
              <a:t>Evolving Requirements:</a:t>
            </a:r>
            <a:r>
              <a:rPr b="1" i="0" lang="en-US" sz="1050" u="none" cap="none" strike="noStrike">
                <a:solidFill>
                  <a:srgbClr val="16A34A"/>
                </a:solidFill>
                <a:latin typeface="Inter"/>
                <a:ea typeface="Inter"/>
                <a:cs typeface="Inter"/>
                <a:sym typeface="Inter"/>
              </a:rPr>
              <a:t> Web and mobile applications with fluid scope </a:t>
            </a:r>
            <a:r>
              <a:rPr b="1" i="0" lang="en-US" sz="900" u="none" cap="none" strike="noStrike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(Cockburn, 2006)</a:t>
            </a:r>
            <a:r>
              <a:rPr b="1" i="0" lang="en-US" sz="1050" u="none" cap="none" strike="noStrike">
                <a:solidFill>
                  <a:srgbClr val="16A34A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89" name="Google Shape;189;p17"/>
          <p:cNvSpPr txBox="1"/>
          <p:nvPr/>
        </p:nvSpPr>
        <p:spPr>
          <a:xfrm>
            <a:off x="1114425" y="2628900"/>
            <a:ext cx="6943799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4532D"/>
                </a:solidFill>
                <a:latin typeface="Inter"/>
                <a:ea typeface="Inter"/>
                <a:cs typeface="Inter"/>
                <a:sym typeface="Inter"/>
              </a:rPr>
              <a:t>High Client Engagement:</a:t>
            </a:r>
            <a:r>
              <a:rPr b="1" i="0" lang="en-US" sz="1050" u="none" cap="none" strike="noStrike">
                <a:solidFill>
                  <a:srgbClr val="16A34A"/>
                </a:solidFill>
                <a:latin typeface="Inter"/>
                <a:ea typeface="Inter"/>
                <a:cs typeface="Inter"/>
                <a:sym typeface="Inter"/>
              </a:rPr>
              <a:t> Stakeholders available for bi-weekly sprint reviews.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1114425" y="2924175"/>
            <a:ext cx="6943799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4532D"/>
                </a:solidFill>
                <a:latin typeface="Inter"/>
                <a:ea typeface="Inter"/>
                <a:cs typeface="Inter"/>
                <a:sym typeface="Inter"/>
              </a:rPr>
              <a:t>Rapid Time-to-Market:</a:t>
            </a:r>
            <a:r>
              <a:rPr b="1" i="0" lang="en-US" sz="1050" u="none" cap="none" strike="noStrike">
                <a:solidFill>
                  <a:srgbClr val="16A34A"/>
                </a:solidFill>
                <a:latin typeface="Inter"/>
                <a:ea typeface="Inter"/>
                <a:cs typeface="Inter"/>
                <a:sym typeface="Inter"/>
              </a:rPr>
              <a:t> Urgency to release core MVP features incrementally.</a:t>
            </a:r>
            <a:endParaRPr/>
          </a:p>
        </p:txBody>
      </p:sp>
      <p:sp>
        <p:nvSpPr>
          <p:cNvPr id="191" name="Google Shape;191;p17"/>
          <p:cNvSpPr txBox="1"/>
          <p:nvPr/>
        </p:nvSpPr>
        <p:spPr>
          <a:xfrm>
            <a:off x="1114425" y="3219450"/>
            <a:ext cx="6943799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4532D"/>
                </a:solidFill>
                <a:latin typeface="Inter"/>
                <a:ea typeface="Inter"/>
                <a:cs typeface="Inter"/>
                <a:sym typeface="Inter"/>
              </a:rPr>
              <a:t>UX Feedback Loops:</a:t>
            </a:r>
            <a:r>
              <a:rPr b="1" i="0" lang="en-US" sz="1050" u="none" cap="none" strike="noStrike">
                <a:solidFill>
                  <a:srgbClr val="16A34A"/>
                </a:solidFill>
                <a:latin typeface="Inter"/>
                <a:ea typeface="Inter"/>
                <a:cs typeface="Inter"/>
                <a:sym typeface="Inter"/>
              </a:rPr>
              <a:t> Complex domains requiring user validation.</a:t>
            </a:r>
            <a:endParaRPr/>
          </a:p>
        </p:txBody>
      </p:sp>
      <p:sp>
        <p:nvSpPr>
          <p:cNvPr id="192" name="Google Shape;192;p17"/>
          <p:cNvSpPr txBox="1"/>
          <p:nvPr/>
        </p:nvSpPr>
        <p:spPr>
          <a:xfrm>
            <a:off x="7480994" y="1600200"/>
            <a:ext cx="30128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When to Retain Waterfall</a:t>
            </a:r>
            <a:endParaRPr/>
          </a:p>
        </p:txBody>
      </p:sp>
      <p:sp>
        <p:nvSpPr>
          <p:cNvPr id="193" name="Google Shape;193;p17"/>
          <p:cNvSpPr txBox="1"/>
          <p:nvPr/>
        </p:nvSpPr>
        <p:spPr>
          <a:xfrm>
            <a:off x="7709594" y="2333625"/>
            <a:ext cx="3691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Fixed-Scope / Regulatory:</a:t>
            </a: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Hardware-bound or strict compliance contracts.</a:t>
            </a:r>
            <a:endParaRPr/>
          </a:p>
        </p:txBody>
      </p:sp>
      <p:sp>
        <p:nvSpPr>
          <p:cNvPr id="194" name="Google Shape;194;p17"/>
          <p:cNvSpPr txBox="1"/>
          <p:nvPr/>
        </p:nvSpPr>
        <p:spPr>
          <a:xfrm>
            <a:off x="7690544" y="2790825"/>
            <a:ext cx="371088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Immutable Architecture:</a:t>
            </a: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Legacy systems with zero anticipated requirement changes.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8"/>
          <p:cNvSpPr/>
          <p:nvPr/>
        </p:nvSpPr>
        <p:spPr>
          <a:xfrm>
            <a:off x="609600" y="2412206"/>
            <a:ext cx="10972800" cy="557212"/>
          </a:xfrm>
          <a:prstGeom prst="roundRect">
            <a:avLst>
              <a:gd fmla="val 1367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609600" y="3121818"/>
            <a:ext cx="10972800" cy="557212"/>
          </a:xfrm>
          <a:prstGeom prst="roundRect">
            <a:avLst>
              <a:gd fmla="val 1367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609600" y="3831431"/>
            <a:ext cx="10972800" cy="771525"/>
          </a:xfrm>
          <a:prstGeom prst="roundRect">
            <a:avLst>
              <a:gd fmla="val 987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609600" y="4755356"/>
            <a:ext cx="10972800" cy="557212"/>
          </a:xfrm>
          <a:prstGeom prst="roundRect">
            <a:avLst>
              <a:gd fmla="val 1367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609600" y="2412206"/>
            <a:ext cx="38100" cy="5572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609600" y="3121818"/>
            <a:ext cx="38100" cy="5572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609600" y="3831431"/>
            <a:ext cx="38100" cy="7715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609600" y="4755356"/>
            <a:ext cx="38100" cy="5572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 txBox="1"/>
          <p:nvPr/>
        </p:nvSpPr>
        <p:spPr>
          <a:xfrm>
            <a:off x="609600" y="457200"/>
            <a:ext cx="110680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Academic &amp; Industry Citations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609600" y="685800"/>
            <a:ext cx="11582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References &amp; Verified Sources</a:t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876300" y="2583656"/>
            <a:ext cx="113157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Cockburn, A. (2006). </a:t>
            </a:r>
            <a:r>
              <a:rPr b="0" i="1" lang="en-US" sz="11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Agile software development: The cooperative game</a:t>
            </a:r>
            <a:r>
              <a:rPr b="0" i="0" lang="en-US" sz="11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(2nd ed.). Addison-Wesley Professional. </a:t>
            </a:r>
            <a:r>
              <a:rPr b="0" i="0" lang="en-US" sz="975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[View Publisher Source]</a:t>
            </a: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876300" y="3293268"/>
            <a:ext cx="113157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Highsmith, J. (2002). </a:t>
            </a:r>
            <a:r>
              <a:rPr b="0" i="1" lang="en-US" sz="11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Agile software development ecosystems</a:t>
            </a:r>
            <a:r>
              <a:rPr b="0" i="0" lang="en-US" sz="11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. Addison-Wesley Professional. </a:t>
            </a:r>
            <a:r>
              <a:rPr b="0" i="0" lang="en-US" sz="975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[View ACM Digital Library]</a:t>
            </a:r>
            <a:endParaRPr/>
          </a:p>
        </p:txBody>
      </p:sp>
      <p:sp>
        <p:nvSpPr>
          <p:cNvPr id="211" name="Google Shape;211;p18"/>
          <p:cNvSpPr txBox="1"/>
          <p:nvPr/>
        </p:nvSpPr>
        <p:spPr>
          <a:xfrm>
            <a:off x="876300" y="4002881"/>
            <a:ext cx="105727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Rigby, D. K., Sutherland, J., &amp; Noble, A. (2018). Agile at scale: How to go from a few agile teams to hundreds. </a:t>
            </a:r>
            <a:r>
              <a:rPr b="0" i="1" lang="en-US" sz="11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Harvard Business Review</a:t>
            </a:r>
            <a:r>
              <a:rPr b="0" i="0" lang="en-US" sz="11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, 96(3), 88–96. </a:t>
            </a:r>
            <a:r>
              <a:rPr b="0" i="0" lang="en-US" sz="975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[View Harvard Business Review]</a:t>
            </a:r>
            <a:endParaRPr/>
          </a:p>
        </p:txBody>
      </p:sp>
      <p:sp>
        <p:nvSpPr>
          <p:cNvPr id="212" name="Google Shape;212;p18"/>
          <p:cNvSpPr txBox="1"/>
          <p:nvPr/>
        </p:nvSpPr>
        <p:spPr>
          <a:xfrm>
            <a:off x="876300" y="4926806"/>
            <a:ext cx="113157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Schwaber, K., &amp; Sutherland, J. (2020). </a:t>
            </a:r>
            <a:r>
              <a:rPr b="0" i="1" lang="en-US" sz="11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The Scrum Guide: The definitive guide to Scrum: The rules of the game</a:t>
            </a:r>
            <a:r>
              <a:rPr b="0" i="0" lang="en-US" sz="11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. Scrum.org. </a:t>
            </a:r>
            <a:r>
              <a:rPr b="0" i="0" lang="en-US" sz="975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[View Official Scrum Guide]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